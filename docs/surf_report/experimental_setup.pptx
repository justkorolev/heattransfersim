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Amber entries are still placeholders: pull dt, K_i, the heater limit, the setpoint and the initial temperature from the run's simulation_parameters.json before presenting. The heater limit especially — the saved parameter says 1.5 W per heater while the talk quotes 7-11 W of 30, and those cannot both be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3400" b="1">
                <a:solidFill>
                  <a:srgbClr val="F5F5F5"/>
                </a:solidFill>
                <a:latin typeface="Cambria"/>
              </a:rPr>
              <a:t>Experimental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9264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9A9A9A"/>
                </a:solidFill>
                <a:latin typeface="Calibri"/>
              </a:rPr>
              <a:t>Cryostat thermal simulator — what was held fixed, and at what value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481328"/>
          <a:ext cx="5486400" cy="36758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3703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Plant &amp; model</a:t>
                      </a:r>
                    </a:p>
                  </a:txBody>
                  <a:tcPr marL="100584" marR="73152" marT="18288" marB="18288">
                    <a:solidFill>
                      <a:srgbClr val="142C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0584" marR="73152" marT="18288" marB="18288">
                    <a:solidFill>
                      <a:srgbClr val="142C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Graph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2.99 M cells · 27 heaters · 27 sensors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Gain G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exact DC solve of  L T = P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Linearised at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T_op = 50 K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Conditioning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cond 366 · σ₁ = 81 % of the plant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Properties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0A95C"/>
                          </a:solidFill>
                          <a:latin typeface="Calibri"/>
                        </a:rPr>
                        <a:t>k(T), c_p(T)  ___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Radiation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to ambient only — no view factors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Solver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implicit step, GPU conjugate gradient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Conservation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energy drift ~1e−6 throughout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0216" y="1481328"/>
          <a:ext cx="5486400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3080"/>
                <a:gridCol w="370332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Controller &amp; run</a:t>
                      </a:r>
                    </a:p>
                  </a:txBody>
                  <a:tcPr marL="100584" marR="73152" marT="18288" marB="18288">
                    <a:solidFill>
                      <a:srgbClr val="142C3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100584" marR="73152" marT="18288" marB="18288">
                    <a:solidFill>
                      <a:srgbClr val="142C3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Scheme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static-decoupling MIMO PI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Allocation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bounded least squares,  u ≥ 0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Gains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0A95C"/>
                          </a:solidFill>
                          <a:latin typeface="Calibri"/>
                        </a:rPr>
                        <a:t>K_p = 5.5 · K_i = ___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Filter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τ_f = 900 s, feedback path only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Step size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0A95C"/>
                          </a:solidFill>
                          <a:latin typeface="Calibri"/>
                        </a:rPr>
                        <a:t>dt = ___ s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Heater limit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0A95C"/>
                          </a:solidFill>
                          <a:latin typeface="Calibri"/>
                        </a:rPr>
                        <a:t>___ W each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Setpoints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0A95C"/>
                          </a:solidFill>
                          <a:latin typeface="Calibri"/>
                        </a:rPr>
                        <a:t>___ K, uniform across sensors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Channels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25 of 27 in the loop — 2 unreachable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Initial state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0A95C"/>
                          </a:solidFill>
                          <a:latin typeface="Calibri"/>
                        </a:rPr>
                        <a:t>uniform at ___ K</a:t>
                      </a:r>
                    </a:p>
                  </a:txBody>
                  <a:tcPr marL="100584" marR="73152" marT="18288" marB="18288">
                    <a:solidFill>
                      <a:srgbClr val="0C0C0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B8B8B8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5F5F5"/>
                          </a:solidFill>
                          <a:latin typeface="Calibri"/>
                        </a:rPr>
                        <a:t>27.8 h ≈ 1.2 × dominant time constant</a:t>
                      </a:r>
                    </a:p>
                  </a:txBody>
                  <a:tcPr marL="100584" marR="73152" marT="18288" marB="18288">
                    <a:solidFill>
                      <a:srgbClr val="15151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